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Inter Italics" charset="1" panose="020B0502030000000004"/>
      <p:regular r:id="rId19"/>
    </p:embeddedFont>
    <p:embeddedFont>
      <p:font typeface="Inter" charset="1" panose="020B0502030000000004"/>
      <p:regular r:id="rId20"/>
    </p:embeddedFont>
    <p:embeddedFont>
      <p:font typeface="Open Sauce" charset="1" panose="00000500000000000000"/>
      <p:regular r:id="rId21"/>
    </p:embeddedFont>
    <p:embeddedFont>
      <p:font typeface="Canva Sans" charset="1" panose="020B0503030501040103"/>
      <p:regular r:id="rId22"/>
    </p:embeddedFont>
    <p:embeddedFont>
      <p:font typeface="Inter Bold Italics" charset="1" panose="020B0802030000000004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88704" y="-274420"/>
            <a:ext cx="11724389" cy="11818223"/>
            <a:chOff x="0" y="0"/>
            <a:chExt cx="3087905" cy="31126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87905" cy="3112619"/>
            </a:xfrm>
            <a:custGeom>
              <a:avLst/>
              <a:gdLst/>
              <a:ahLst/>
              <a:cxnLst/>
              <a:rect r="r" b="b" t="t" l="l"/>
              <a:pathLst>
                <a:path h="3112619" w="3087905">
                  <a:moveTo>
                    <a:pt x="0" y="0"/>
                  </a:moveTo>
                  <a:lnTo>
                    <a:pt x="3087905" y="0"/>
                  </a:lnTo>
                  <a:lnTo>
                    <a:pt x="3087905" y="3112619"/>
                  </a:lnTo>
                  <a:lnTo>
                    <a:pt x="0" y="3112619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87905" cy="3150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159938" y="-384760"/>
            <a:ext cx="6074988" cy="11566613"/>
            <a:chOff x="0" y="0"/>
            <a:chExt cx="1599997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9997" cy="3046351"/>
            </a:xfrm>
            <a:custGeom>
              <a:avLst/>
              <a:gdLst/>
              <a:ahLst/>
              <a:cxnLst/>
              <a:rect r="r" b="b" t="t" l="l"/>
              <a:pathLst>
                <a:path h="3046351" w="1599997">
                  <a:moveTo>
                    <a:pt x="0" y="0"/>
                  </a:moveTo>
                  <a:lnTo>
                    <a:pt x="1599997" y="0"/>
                  </a:lnTo>
                  <a:lnTo>
                    <a:pt x="1599997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9997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89374" y="178733"/>
            <a:ext cx="6040490" cy="9929535"/>
            <a:chOff x="0" y="0"/>
            <a:chExt cx="1590911" cy="26151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0911" cy="2615186"/>
            </a:xfrm>
            <a:custGeom>
              <a:avLst/>
              <a:gdLst/>
              <a:ahLst/>
              <a:cxnLst/>
              <a:rect r="r" b="b" t="t" l="l"/>
              <a:pathLst>
                <a:path h="2615186" w="1590911">
                  <a:moveTo>
                    <a:pt x="53830" y="0"/>
                  </a:moveTo>
                  <a:lnTo>
                    <a:pt x="1537081" y="0"/>
                  </a:lnTo>
                  <a:cubicBezTo>
                    <a:pt x="1551357" y="0"/>
                    <a:pt x="1565049" y="5671"/>
                    <a:pt x="1575144" y="15766"/>
                  </a:cubicBezTo>
                  <a:cubicBezTo>
                    <a:pt x="1585239" y="25862"/>
                    <a:pt x="1590911" y="39554"/>
                    <a:pt x="1590911" y="53830"/>
                  </a:cubicBezTo>
                  <a:lnTo>
                    <a:pt x="1590911" y="2561356"/>
                  </a:lnTo>
                  <a:cubicBezTo>
                    <a:pt x="1590911" y="2575633"/>
                    <a:pt x="1585239" y="2589325"/>
                    <a:pt x="1575144" y="2599420"/>
                  </a:cubicBezTo>
                  <a:cubicBezTo>
                    <a:pt x="1565049" y="2609515"/>
                    <a:pt x="1551357" y="2615186"/>
                    <a:pt x="1537081" y="2615186"/>
                  </a:cubicBezTo>
                  <a:lnTo>
                    <a:pt x="53830" y="2615186"/>
                  </a:lnTo>
                  <a:cubicBezTo>
                    <a:pt x="39554" y="2615186"/>
                    <a:pt x="25862" y="2609515"/>
                    <a:pt x="15766" y="2599420"/>
                  </a:cubicBezTo>
                  <a:cubicBezTo>
                    <a:pt x="5671" y="2589325"/>
                    <a:pt x="0" y="2575633"/>
                    <a:pt x="0" y="2561356"/>
                  </a:cubicBezTo>
                  <a:lnTo>
                    <a:pt x="0" y="53830"/>
                  </a:lnTo>
                  <a:cubicBezTo>
                    <a:pt x="0" y="39554"/>
                    <a:pt x="5671" y="25862"/>
                    <a:pt x="15766" y="15766"/>
                  </a:cubicBezTo>
                  <a:cubicBezTo>
                    <a:pt x="25862" y="5671"/>
                    <a:pt x="39554" y="0"/>
                    <a:pt x="538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90911" cy="265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64414" y="2473623"/>
            <a:ext cx="962781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159938" y="758843"/>
            <a:ext cx="4871855" cy="5980505"/>
            <a:chOff x="0" y="0"/>
            <a:chExt cx="754778" cy="9265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4778" cy="926537"/>
            </a:xfrm>
            <a:custGeom>
              <a:avLst/>
              <a:gdLst/>
              <a:ahLst/>
              <a:cxnLst/>
              <a:rect r="r" b="b" t="t" l="l"/>
              <a:pathLst>
                <a:path h="926537" w="754778">
                  <a:moveTo>
                    <a:pt x="63564" y="0"/>
                  </a:moveTo>
                  <a:lnTo>
                    <a:pt x="691213" y="0"/>
                  </a:lnTo>
                  <a:cubicBezTo>
                    <a:pt x="708072" y="0"/>
                    <a:pt x="724240" y="6697"/>
                    <a:pt x="736160" y="18618"/>
                  </a:cubicBezTo>
                  <a:cubicBezTo>
                    <a:pt x="748081" y="30538"/>
                    <a:pt x="754778" y="46706"/>
                    <a:pt x="754778" y="63564"/>
                  </a:cubicBezTo>
                  <a:lnTo>
                    <a:pt x="754778" y="862972"/>
                  </a:lnTo>
                  <a:cubicBezTo>
                    <a:pt x="754778" y="898078"/>
                    <a:pt x="726319" y="926537"/>
                    <a:pt x="691213" y="926537"/>
                  </a:cubicBezTo>
                  <a:lnTo>
                    <a:pt x="63564" y="926537"/>
                  </a:lnTo>
                  <a:cubicBezTo>
                    <a:pt x="28459" y="926537"/>
                    <a:pt x="0" y="898078"/>
                    <a:pt x="0" y="862972"/>
                  </a:cubicBezTo>
                  <a:lnTo>
                    <a:pt x="0" y="63564"/>
                  </a:lnTo>
                  <a:cubicBezTo>
                    <a:pt x="0" y="28459"/>
                    <a:pt x="28459" y="0"/>
                    <a:pt x="6356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80" r="0" b="-98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464414" y="705123"/>
            <a:ext cx="10337716" cy="17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30"/>
              </a:lnSpc>
            </a:pPr>
            <a:r>
              <a:rPr lang="en-US" b="true" sz="14367" spc="-8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F. L . O. R . 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027602"/>
            <a:ext cx="10475682" cy="132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4"/>
              </a:lnSpc>
            </a:pPr>
            <a:r>
              <a:rPr lang="en-US" b="true" sz="5605" spc="-33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Fog - assisted Light - Integrated Optimized Root Apparatus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960522"/>
            <a:ext cx="7156555" cy="83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2"/>
              </a:lnSpc>
            </a:pPr>
            <a:r>
              <a:rPr lang="en-US" b="true" sz="6836" spc="-410">
                <a:solidFill>
                  <a:srgbClr val="FFD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</a:t>
            </a:r>
            <a:r>
              <a:rPr lang="en-US" b="true" sz="6836" spc="-410">
                <a:solidFill>
                  <a:srgbClr val="FFD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174399"/>
            <a:ext cx="7497863" cy="12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i="true" spc="-44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FLORA (Fog Assisted Light Integrated Optimized Root Apparatus) is an innovative smart cultivation system combining nutrient-rich fog delivery, optimized root-zone management, and integrated lighting for efficient, sustainable plant growth.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7445" y="7739577"/>
            <a:ext cx="4557005" cy="210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FLORA enables efficient and sustainable plant cultivation by optimizing root nutrition, reducing water consumption, saving space, improving growth conditions, and supporting controlled, year-round cultivation through integrated lighting.</a:t>
            </a:r>
          </a:p>
          <a:p>
            <a:pPr algn="l">
              <a:lnSpc>
                <a:spcPts val="231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595865" y="352698"/>
            <a:ext cx="2848194" cy="3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1"/>
              </a:lnSpc>
            </a:pPr>
            <a:r>
              <a:rPr lang="en-US" b="true" sz="2399" spc="-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Sustainable Future </a:t>
            </a:r>
            <a:r>
              <a:rPr lang="en-US" b="true" sz="2399" spc="-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6528" y="8966835"/>
            <a:ext cx="295516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Presented by: Shreeyog Yembadwar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59938" y="6841024"/>
            <a:ext cx="509936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FFE1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Insights, Performance &amp; Sustainable Growth Overview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6978" y="8975883"/>
            <a:ext cx="2629667" cy="43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3"/>
              </a:lnSpc>
              <a:spcBef>
                <a:spcPct val="0"/>
              </a:spcBef>
            </a:pPr>
            <a:r>
              <a:rPr lang="en-US" sz="2574" spc="-13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Team :  Floratech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64495" y="9022276"/>
            <a:ext cx="375939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2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12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Institution : CSMSS College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-12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of Agriculture </a:t>
            </a:r>
            <a:r>
              <a:rPr lang="en-US" sz="2399" spc="-12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76196"/>
            <a:ext cx="9000742" cy="10850611"/>
            <a:chOff x="0" y="0"/>
            <a:chExt cx="2370566" cy="28577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0566" cy="2857774"/>
            </a:xfrm>
            <a:custGeom>
              <a:avLst/>
              <a:gdLst/>
              <a:ahLst/>
              <a:cxnLst/>
              <a:rect r="r" b="b" t="t" l="l"/>
              <a:pathLst>
                <a:path h="2857774" w="2370566">
                  <a:moveTo>
                    <a:pt x="0" y="0"/>
                  </a:moveTo>
                  <a:lnTo>
                    <a:pt x="2370566" y="0"/>
                  </a:lnTo>
                  <a:lnTo>
                    <a:pt x="2370566" y="2857774"/>
                  </a:lnTo>
                  <a:lnTo>
                    <a:pt x="0" y="2857774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0566" cy="28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1014598" y="-639807"/>
            <a:ext cx="7493606" cy="11566613"/>
            <a:chOff x="0" y="0"/>
            <a:chExt cx="1973625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3625" cy="3046351"/>
            </a:xfrm>
            <a:custGeom>
              <a:avLst/>
              <a:gdLst/>
              <a:ahLst/>
              <a:cxnLst/>
              <a:rect r="r" b="b" t="t" l="l"/>
              <a:pathLst>
                <a:path h="3046351" w="1973625">
                  <a:moveTo>
                    <a:pt x="0" y="0"/>
                  </a:moveTo>
                  <a:lnTo>
                    <a:pt x="1973625" y="0"/>
                  </a:lnTo>
                  <a:lnTo>
                    <a:pt x="1973625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3625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99931" y="76196"/>
            <a:ext cx="7988069" cy="9450006"/>
            <a:chOff x="0" y="0"/>
            <a:chExt cx="2103854" cy="2488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854" cy="2488891"/>
            </a:xfrm>
            <a:custGeom>
              <a:avLst/>
              <a:gdLst/>
              <a:ahLst/>
              <a:cxnLst/>
              <a:rect r="r" b="b" t="t" l="l"/>
              <a:pathLst>
                <a:path h="2488891" w="2103854">
                  <a:moveTo>
                    <a:pt x="40706" y="0"/>
                  </a:moveTo>
                  <a:lnTo>
                    <a:pt x="2063148" y="0"/>
                  </a:lnTo>
                  <a:cubicBezTo>
                    <a:pt x="2085629" y="0"/>
                    <a:pt x="2103854" y="18225"/>
                    <a:pt x="2103854" y="40706"/>
                  </a:cubicBezTo>
                  <a:lnTo>
                    <a:pt x="2103854" y="2448185"/>
                  </a:lnTo>
                  <a:cubicBezTo>
                    <a:pt x="2103854" y="2470666"/>
                    <a:pt x="2085629" y="2488891"/>
                    <a:pt x="2063148" y="2488891"/>
                  </a:cubicBezTo>
                  <a:lnTo>
                    <a:pt x="40706" y="2488891"/>
                  </a:lnTo>
                  <a:cubicBezTo>
                    <a:pt x="18225" y="2488891"/>
                    <a:pt x="0" y="2470666"/>
                    <a:pt x="0" y="2448185"/>
                  </a:cubicBezTo>
                  <a:lnTo>
                    <a:pt x="0" y="40706"/>
                  </a:lnTo>
                  <a:cubicBezTo>
                    <a:pt x="0" y="18225"/>
                    <a:pt x="18225" y="0"/>
                    <a:pt x="407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03854" cy="2526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75987" y="2464330"/>
            <a:ext cx="645814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504020" y="861251"/>
            <a:ext cx="7488564" cy="4451145"/>
            <a:chOff x="0" y="0"/>
            <a:chExt cx="1297730" cy="7713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7730" cy="771361"/>
            </a:xfrm>
            <a:custGeom>
              <a:avLst/>
              <a:gdLst/>
              <a:ahLst/>
              <a:cxnLst/>
              <a:rect r="r" b="b" t="t" l="l"/>
              <a:pathLst>
                <a:path h="771361" w="1297730">
                  <a:moveTo>
                    <a:pt x="41353" y="0"/>
                  </a:moveTo>
                  <a:lnTo>
                    <a:pt x="1256377" y="0"/>
                  </a:lnTo>
                  <a:cubicBezTo>
                    <a:pt x="1267345" y="0"/>
                    <a:pt x="1277863" y="4357"/>
                    <a:pt x="1285618" y="12112"/>
                  </a:cubicBezTo>
                  <a:cubicBezTo>
                    <a:pt x="1293373" y="19867"/>
                    <a:pt x="1297730" y="30386"/>
                    <a:pt x="1297730" y="41353"/>
                  </a:cubicBezTo>
                  <a:lnTo>
                    <a:pt x="1297730" y="730008"/>
                  </a:lnTo>
                  <a:cubicBezTo>
                    <a:pt x="1297730" y="752846"/>
                    <a:pt x="1279216" y="771361"/>
                    <a:pt x="1256377" y="771361"/>
                  </a:cubicBezTo>
                  <a:lnTo>
                    <a:pt x="41353" y="771361"/>
                  </a:lnTo>
                  <a:cubicBezTo>
                    <a:pt x="18515" y="771361"/>
                    <a:pt x="0" y="752846"/>
                    <a:pt x="0" y="730008"/>
                  </a:cubicBezTo>
                  <a:lnTo>
                    <a:pt x="0" y="41353"/>
                  </a:lnTo>
                  <a:cubicBezTo>
                    <a:pt x="0" y="18515"/>
                    <a:pt x="18515" y="0"/>
                    <a:pt x="4135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939" r="0" b="-5939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504020" y="5540995"/>
            <a:ext cx="7569966" cy="3756799"/>
            <a:chOff x="0" y="0"/>
            <a:chExt cx="1443954" cy="7166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3954" cy="716601"/>
            </a:xfrm>
            <a:custGeom>
              <a:avLst/>
              <a:gdLst/>
              <a:ahLst/>
              <a:cxnLst/>
              <a:rect r="r" b="b" t="t" l="l"/>
              <a:pathLst>
                <a:path h="716601" w="1443954">
                  <a:moveTo>
                    <a:pt x="40909" y="0"/>
                  </a:moveTo>
                  <a:lnTo>
                    <a:pt x="1403045" y="0"/>
                  </a:lnTo>
                  <a:cubicBezTo>
                    <a:pt x="1425638" y="0"/>
                    <a:pt x="1443954" y="18315"/>
                    <a:pt x="1443954" y="40909"/>
                  </a:cubicBezTo>
                  <a:lnTo>
                    <a:pt x="1443954" y="675692"/>
                  </a:lnTo>
                  <a:cubicBezTo>
                    <a:pt x="1443954" y="698285"/>
                    <a:pt x="1425638" y="716601"/>
                    <a:pt x="1403045" y="716601"/>
                  </a:cubicBezTo>
                  <a:lnTo>
                    <a:pt x="40909" y="716601"/>
                  </a:lnTo>
                  <a:cubicBezTo>
                    <a:pt x="18315" y="716601"/>
                    <a:pt x="0" y="698285"/>
                    <a:pt x="0" y="675692"/>
                  </a:cubicBezTo>
                  <a:lnTo>
                    <a:pt x="0" y="40909"/>
                  </a:lnTo>
                  <a:cubicBezTo>
                    <a:pt x="0" y="18315"/>
                    <a:pt x="18315" y="0"/>
                    <a:pt x="4090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998" r="0" b="-16998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75987" y="333371"/>
            <a:ext cx="7331097" cy="213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6"/>
              </a:lnSpc>
            </a:pPr>
            <a:r>
              <a:rPr lang="en-US" b="true" sz="8985" spc="-5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07195" y="335096"/>
            <a:ext cx="2848194" cy="3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1"/>
              </a:lnSpc>
            </a:pPr>
            <a:r>
              <a:rPr lang="en-US" b="true" sz="2399" spc="-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Sustainable Future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3265647"/>
            <a:ext cx="9567867" cy="660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0228" indent="-450114" lvl="1">
              <a:lnSpc>
                <a:spcPts val="5837"/>
              </a:lnSpc>
              <a:buFont typeface="Arial"/>
              <a:buChar char="•"/>
            </a:pPr>
            <a:r>
              <a:rPr lang="en-US" sz="41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Agriculture faces serious water scarcity issues.</a:t>
            </a:r>
          </a:p>
          <a:p>
            <a:pPr algn="l" marL="900228" indent="-450114" lvl="1">
              <a:lnSpc>
                <a:spcPts val="5837"/>
              </a:lnSpc>
              <a:buFont typeface="Arial"/>
              <a:buChar char="•"/>
            </a:pPr>
            <a:r>
              <a:rPr lang="en-US" sz="41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Traditional irrigation wastes large amounts of water.</a:t>
            </a:r>
          </a:p>
          <a:p>
            <a:pPr algn="l" marL="900228" indent="-450114" lvl="1">
              <a:lnSpc>
                <a:spcPts val="5837"/>
              </a:lnSpc>
              <a:buFont typeface="Arial"/>
              <a:buChar char="•"/>
            </a:pPr>
            <a:r>
              <a:rPr lang="en-US" sz="41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Aeroponics is efficient but too expensive and complex.</a:t>
            </a:r>
          </a:p>
          <a:p>
            <a:pPr algn="l" marL="900228" indent="-450114" lvl="1">
              <a:lnSpc>
                <a:spcPts val="5837"/>
              </a:lnSpc>
              <a:buFont typeface="Arial"/>
              <a:buChar char="•"/>
            </a:pPr>
            <a:r>
              <a:rPr lang="en-US" sz="41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Low-cost fog systems cause root rot due to heavy droplets.raph 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1079" y="1299445"/>
            <a:ext cx="17730783" cy="8978030"/>
            <a:chOff x="0" y="0"/>
            <a:chExt cx="4669836" cy="23645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69836" cy="2364584"/>
            </a:xfrm>
            <a:custGeom>
              <a:avLst/>
              <a:gdLst/>
              <a:ahLst/>
              <a:cxnLst/>
              <a:rect r="r" b="b" t="t" l="l"/>
              <a:pathLst>
                <a:path h="2364584" w="4669836">
                  <a:moveTo>
                    <a:pt x="18339" y="0"/>
                  </a:moveTo>
                  <a:lnTo>
                    <a:pt x="4651497" y="0"/>
                  </a:lnTo>
                  <a:cubicBezTo>
                    <a:pt x="4661626" y="0"/>
                    <a:pt x="4669836" y="8211"/>
                    <a:pt x="4669836" y="18339"/>
                  </a:cubicBezTo>
                  <a:lnTo>
                    <a:pt x="4669836" y="2346245"/>
                  </a:lnTo>
                  <a:cubicBezTo>
                    <a:pt x="4669836" y="2356373"/>
                    <a:pt x="4661626" y="2364584"/>
                    <a:pt x="4651497" y="2364584"/>
                  </a:cubicBezTo>
                  <a:lnTo>
                    <a:pt x="18339" y="2364584"/>
                  </a:lnTo>
                  <a:cubicBezTo>
                    <a:pt x="13475" y="2364584"/>
                    <a:pt x="8810" y="2362652"/>
                    <a:pt x="5371" y="2359213"/>
                  </a:cubicBezTo>
                  <a:cubicBezTo>
                    <a:pt x="1932" y="2355773"/>
                    <a:pt x="0" y="2351109"/>
                    <a:pt x="0" y="2346245"/>
                  </a:cubicBezTo>
                  <a:lnTo>
                    <a:pt x="0" y="18339"/>
                  </a:lnTo>
                  <a:cubicBezTo>
                    <a:pt x="0" y="13475"/>
                    <a:pt x="1932" y="8810"/>
                    <a:pt x="5371" y="5371"/>
                  </a:cubicBezTo>
                  <a:cubicBezTo>
                    <a:pt x="8810" y="1932"/>
                    <a:pt x="13475" y="0"/>
                    <a:pt x="183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69836" cy="2402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059652" y="1299445"/>
            <a:ext cx="672591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817548" y="149947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92263" y="247650"/>
            <a:ext cx="7918843" cy="106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5"/>
              </a:lnSpc>
            </a:pPr>
            <a:r>
              <a:rPr lang="en-US" b="true" sz="8606" spc="-51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57872" y="727329"/>
            <a:ext cx="2848194" cy="3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1"/>
              </a:lnSpc>
            </a:pPr>
            <a:r>
              <a:rPr lang="en-US" b="true" sz="2399" spc="-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Sustainable Future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3877" y="2090567"/>
            <a:ext cx="9313671" cy="598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898" indent="-366949" lvl="1">
              <a:lnSpc>
                <a:spcPts val="4758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 propose F.L.O.R.A., a decentralized and ultra-lowcost fogponics system. </a:t>
            </a:r>
          </a:p>
          <a:p>
            <a:pPr algn="l" marL="733898" indent="-366949" lvl="1">
              <a:lnSpc>
                <a:spcPts val="4758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uses an ultrasonic mist maker instead of expensive highpressure pumps. </a:t>
            </a:r>
          </a:p>
          <a:p>
            <a:pPr algn="l" marL="733898" indent="-366949" lvl="1">
              <a:lnSpc>
                <a:spcPts val="4758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mineral pebble baffle layer ensures only fine “dry fog” reaches plant roots. </a:t>
            </a:r>
          </a:p>
          <a:p>
            <a:pPr algn="l" marL="733898" indent="-366949" lvl="1">
              <a:lnSpc>
                <a:spcPts val="4758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system operates in a closed loop, minimizing water and nutrient loss. </a:t>
            </a:r>
          </a:p>
          <a:p>
            <a:pPr algn="l" marL="733898" indent="-366949" lvl="1">
              <a:lnSpc>
                <a:spcPts val="4758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can reduce water usage by up to 95% compared to traditional farming.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1889" y="-281806"/>
            <a:ext cx="9000742" cy="10850611"/>
            <a:chOff x="0" y="0"/>
            <a:chExt cx="2370566" cy="28577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0566" cy="2857774"/>
            </a:xfrm>
            <a:custGeom>
              <a:avLst/>
              <a:gdLst/>
              <a:ahLst/>
              <a:cxnLst/>
              <a:rect r="r" b="b" t="t" l="l"/>
              <a:pathLst>
                <a:path h="2857774" w="2370566">
                  <a:moveTo>
                    <a:pt x="0" y="0"/>
                  </a:moveTo>
                  <a:lnTo>
                    <a:pt x="2370566" y="0"/>
                  </a:lnTo>
                  <a:lnTo>
                    <a:pt x="2370566" y="2857774"/>
                  </a:lnTo>
                  <a:lnTo>
                    <a:pt x="0" y="2857774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0566" cy="28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1014598" y="-639807"/>
            <a:ext cx="7493606" cy="11566613"/>
            <a:chOff x="0" y="0"/>
            <a:chExt cx="1973625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3625" cy="3046351"/>
            </a:xfrm>
            <a:custGeom>
              <a:avLst/>
              <a:gdLst/>
              <a:ahLst/>
              <a:cxnLst/>
              <a:rect r="r" b="b" t="t" l="l"/>
              <a:pathLst>
                <a:path h="3046351" w="1973625">
                  <a:moveTo>
                    <a:pt x="0" y="0"/>
                  </a:moveTo>
                  <a:lnTo>
                    <a:pt x="1973625" y="0"/>
                  </a:lnTo>
                  <a:lnTo>
                    <a:pt x="1973625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3625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1668438"/>
            <a:ext cx="18288000" cy="8900368"/>
            <a:chOff x="0" y="0"/>
            <a:chExt cx="4816593" cy="23441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2344130"/>
            </a:xfrm>
            <a:custGeom>
              <a:avLst/>
              <a:gdLst/>
              <a:ahLst/>
              <a:cxnLst/>
              <a:rect r="r" b="b" t="t" l="l"/>
              <a:pathLst>
                <a:path h="2344130" w="4816592">
                  <a:moveTo>
                    <a:pt x="17780" y="0"/>
                  </a:moveTo>
                  <a:lnTo>
                    <a:pt x="4798813" y="0"/>
                  </a:lnTo>
                  <a:cubicBezTo>
                    <a:pt x="4803528" y="0"/>
                    <a:pt x="4808050" y="1873"/>
                    <a:pt x="4811385" y="5208"/>
                  </a:cubicBezTo>
                  <a:cubicBezTo>
                    <a:pt x="4814719" y="8542"/>
                    <a:pt x="4816592" y="13064"/>
                    <a:pt x="4816592" y="17780"/>
                  </a:cubicBezTo>
                  <a:lnTo>
                    <a:pt x="4816592" y="2326350"/>
                  </a:lnTo>
                  <a:cubicBezTo>
                    <a:pt x="4816592" y="2336169"/>
                    <a:pt x="4808632" y="2344130"/>
                    <a:pt x="4798813" y="2344130"/>
                  </a:cubicBezTo>
                  <a:lnTo>
                    <a:pt x="17780" y="2344130"/>
                  </a:lnTo>
                  <a:cubicBezTo>
                    <a:pt x="7960" y="2344130"/>
                    <a:pt x="0" y="2336169"/>
                    <a:pt x="0" y="2326350"/>
                  </a:cubicBezTo>
                  <a:lnTo>
                    <a:pt x="0" y="17780"/>
                  </a:lnTo>
                  <a:cubicBezTo>
                    <a:pt x="0" y="7960"/>
                    <a:pt x="7960" y="0"/>
                    <a:pt x="177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238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303263" y="2046917"/>
            <a:ext cx="8082835" cy="8061868"/>
          </a:xfrm>
          <a:custGeom>
            <a:avLst/>
            <a:gdLst/>
            <a:ahLst/>
            <a:cxnLst/>
            <a:rect r="r" b="b" t="t" l="l"/>
            <a:pathLst>
              <a:path h="8061868" w="8082835">
                <a:moveTo>
                  <a:pt x="0" y="0"/>
                </a:moveTo>
                <a:lnTo>
                  <a:pt x="8082835" y="0"/>
                </a:lnTo>
                <a:lnTo>
                  <a:pt x="8082835" y="8061868"/>
                </a:lnTo>
                <a:lnTo>
                  <a:pt x="0" y="806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6" t="-4340" r="-296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9254" y="2046917"/>
            <a:ext cx="8229600" cy="8061868"/>
          </a:xfrm>
          <a:custGeom>
            <a:avLst/>
            <a:gdLst/>
            <a:ahLst/>
            <a:cxnLst/>
            <a:rect r="r" b="b" t="t" l="l"/>
            <a:pathLst>
              <a:path h="8061868" w="8229600">
                <a:moveTo>
                  <a:pt x="0" y="0"/>
                </a:moveTo>
                <a:lnTo>
                  <a:pt x="8229600" y="0"/>
                </a:lnTo>
                <a:lnTo>
                  <a:pt x="8229600" y="8061868"/>
                </a:lnTo>
                <a:lnTo>
                  <a:pt x="0" y="8061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8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7354" y="314325"/>
            <a:ext cx="9322339" cy="135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4"/>
              </a:lnSpc>
            </a:pPr>
            <a:r>
              <a:rPr lang="en-US" b="true" sz="11005" spc="-6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FEASIBILITY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18854" y="276225"/>
            <a:ext cx="9158836" cy="118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5"/>
              </a:lnSpc>
            </a:pPr>
            <a:r>
              <a:rPr lang="en-US" b="true" sz="9605" spc="-5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 Key Features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8386" y="-281806"/>
            <a:ext cx="9000742" cy="10850611"/>
            <a:chOff x="0" y="0"/>
            <a:chExt cx="2370566" cy="28577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0566" cy="2857774"/>
            </a:xfrm>
            <a:custGeom>
              <a:avLst/>
              <a:gdLst/>
              <a:ahLst/>
              <a:cxnLst/>
              <a:rect r="r" b="b" t="t" l="l"/>
              <a:pathLst>
                <a:path h="2857774" w="2370566">
                  <a:moveTo>
                    <a:pt x="0" y="0"/>
                  </a:moveTo>
                  <a:lnTo>
                    <a:pt x="2370566" y="0"/>
                  </a:lnTo>
                  <a:lnTo>
                    <a:pt x="2370566" y="2857774"/>
                  </a:lnTo>
                  <a:lnTo>
                    <a:pt x="0" y="2857774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0566" cy="28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0794394" y="-1448213"/>
            <a:ext cx="7493606" cy="11566613"/>
            <a:chOff x="0" y="0"/>
            <a:chExt cx="1973625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3625" cy="3046351"/>
            </a:xfrm>
            <a:custGeom>
              <a:avLst/>
              <a:gdLst/>
              <a:ahLst/>
              <a:cxnLst/>
              <a:rect r="r" b="b" t="t" l="l"/>
              <a:pathLst>
                <a:path h="3046351" w="1973625">
                  <a:moveTo>
                    <a:pt x="0" y="0"/>
                  </a:moveTo>
                  <a:lnTo>
                    <a:pt x="1973625" y="0"/>
                  </a:lnTo>
                  <a:lnTo>
                    <a:pt x="1973625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3625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34128" y="-281806"/>
            <a:ext cx="11840730" cy="11223246"/>
            <a:chOff x="0" y="0"/>
            <a:chExt cx="3118546" cy="2955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18546" cy="2955917"/>
            </a:xfrm>
            <a:custGeom>
              <a:avLst/>
              <a:gdLst/>
              <a:ahLst/>
              <a:cxnLst/>
              <a:rect r="r" b="b" t="t" l="l"/>
              <a:pathLst>
                <a:path h="2955917" w="3118546">
                  <a:moveTo>
                    <a:pt x="27461" y="0"/>
                  </a:moveTo>
                  <a:lnTo>
                    <a:pt x="3091085" y="0"/>
                  </a:lnTo>
                  <a:cubicBezTo>
                    <a:pt x="3098368" y="0"/>
                    <a:pt x="3105353" y="2893"/>
                    <a:pt x="3110503" y="8043"/>
                  </a:cubicBezTo>
                  <a:cubicBezTo>
                    <a:pt x="3115653" y="13193"/>
                    <a:pt x="3118546" y="20178"/>
                    <a:pt x="3118546" y="27461"/>
                  </a:cubicBezTo>
                  <a:lnTo>
                    <a:pt x="3118546" y="2928456"/>
                  </a:lnTo>
                  <a:cubicBezTo>
                    <a:pt x="3118546" y="2943622"/>
                    <a:pt x="3106251" y="2955917"/>
                    <a:pt x="3091085" y="2955917"/>
                  </a:cubicBezTo>
                  <a:lnTo>
                    <a:pt x="27461" y="2955917"/>
                  </a:lnTo>
                  <a:cubicBezTo>
                    <a:pt x="20178" y="2955917"/>
                    <a:pt x="13193" y="2953023"/>
                    <a:pt x="8043" y="2947874"/>
                  </a:cubicBezTo>
                  <a:cubicBezTo>
                    <a:pt x="2893" y="2942723"/>
                    <a:pt x="0" y="2935739"/>
                    <a:pt x="0" y="2928456"/>
                  </a:cubicBezTo>
                  <a:lnTo>
                    <a:pt x="0" y="27461"/>
                  </a:lnTo>
                  <a:cubicBezTo>
                    <a:pt x="0" y="20178"/>
                    <a:pt x="2893" y="13193"/>
                    <a:pt x="8043" y="8043"/>
                  </a:cubicBezTo>
                  <a:cubicBezTo>
                    <a:pt x="13193" y="2893"/>
                    <a:pt x="20178" y="0"/>
                    <a:pt x="274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18546" cy="2994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042843" y="1530970"/>
            <a:ext cx="8430006" cy="8514821"/>
          </a:xfrm>
          <a:custGeom>
            <a:avLst/>
            <a:gdLst/>
            <a:ahLst/>
            <a:cxnLst/>
            <a:rect r="r" b="b" t="t" l="l"/>
            <a:pathLst>
              <a:path h="8514821" w="8430006">
                <a:moveTo>
                  <a:pt x="0" y="0"/>
                </a:moveTo>
                <a:lnTo>
                  <a:pt x="8430006" y="0"/>
                </a:lnTo>
                <a:lnTo>
                  <a:pt x="8430006" y="8514821"/>
                </a:lnTo>
                <a:lnTo>
                  <a:pt x="0" y="8514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03" r="-4099" b="-15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94604" y="456316"/>
            <a:ext cx="7918843" cy="107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5"/>
              </a:lnSpc>
            </a:pPr>
            <a:r>
              <a:rPr lang="en-US" b="true" sz="8706" spc="-522">
                <a:solidFill>
                  <a:srgbClr val="FFD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Structure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483" y="3064837"/>
            <a:ext cx="6182320" cy="87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1"/>
              </a:lnSpc>
            </a:pPr>
            <a:r>
              <a:rPr lang="en-US" sz="5199" i="true" spc="-129">
                <a:solidFill>
                  <a:srgbClr val="FFE144"/>
                </a:solidFill>
                <a:latin typeface="Inter Italics"/>
                <a:ea typeface="Inter Italics"/>
                <a:cs typeface="Inter Italics"/>
                <a:sym typeface="Inter Italics"/>
              </a:rPr>
              <a:t>Roles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16235" y="3292676"/>
            <a:ext cx="250403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DA40"/>
                </a:solidFill>
                <a:latin typeface="Canva Sans"/>
                <a:ea typeface="Canva Sans"/>
                <a:cs typeface="Canva Sans"/>
                <a:sym typeface="Canva Sans"/>
              </a:rPr>
              <a:t>Responsibilities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791912" y="-558774"/>
            <a:ext cx="7493606" cy="12047511"/>
            <a:chOff x="0" y="0"/>
            <a:chExt cx="1973625" cy="31730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625" cy="3173007"/>
            </a:xfrm>
            <a:custGeom>
              <a:avLst/>
              <a:gdLst/>
              <a:ahLst/>
              <a:cxnLst/>
              <a:rect r="r" b="b" t="t" l="l"/>
              <a:pathLst>
                <a:path h="3173007" w="1973625">
                  <a:moveTo>
                    <a:pt x="0" y="0"/>
                  </a:moveTo>
                  <a:lnTo>
                    <a:pt x="1973625" y="0"/>
                  </a:lnTo>
                  <a:lnTo>
                    <a:pt x="1973625" y="3173007"/>
                  </a:lnTo>
                  <a:lnTo>
                    <a:pt x="0" y="3173007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73625" cy="3211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2997953"/>
            <a:ext cx="10613725" cy="7289047"/>
            <a:chOff x="0" y="0"/>
            <a:chExt cx="2795384" cy="19197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5384" cy="1919749"/>
            </a:xfrm>
            <a:custGeom>
              <a:avLst/>
              <a:gdLst/>
              <a:ahLst/>
              <a:cxnLst/>
              <a:rect r="r" b="b" t="t" l="l"/>
              <a:pathLst>
                <a:path h="1919749" w="2795384">
                  <a:moveTo>
                    <a:pt x="30636" y="0"/>
                  </a:moveTo>
                  <a:lnTo>
                    <a:pt x="2764748" y="0"/>
                  </a:lnTo>
                  <a:cubicBezTo>
                    <a:pt x="2772874" y="0"/>
                    <a:pt x="2780666" y="3228"/>
                    <a:pt x="2786411" y="8973"/>
                  </a:cubicBezTo>
                  <a:cubicBezTo>
                    <a:pt x="2792157" y="14718"/>
                    <a:pt x="2795384" y="22511"/>
                    <a:pt x="2795384" y="30636"/>
                  </a:cubicBezTo>
                  <a:lnTo>
                    <a:pt x="2795384" y="1889113"/>
                  </a:lnTo>
                  <a:cubicBezTo>
                    <a:pt x="2795384" y="1897238"/>
                    <a:pt x="2792157" y="1905031"/>
                    <a:pt x="2786411" y="1910776"/>
                  </a:cubicBezTo>
                  <a:cubicBezTo>
                    <a:pt x="2780666" y="1916521"/>
                    <a:pt x="2772874" y="1919749"/>
                    <a:pt x="2764748" y="1919749"/>
                  </a:cubicBezTo>
                  <a:lnTo>
                    <a:pt x="30636" y="1919749"/>
                  </a:lnTo>
                  <a:cubicBezTo>
                    <a:pt x="22511" y="1919749"/>
                    <a:pt x="14718" y="1916521"/>
                    <a:pt x="8973" y="1910776"/>
                  </a:cubicBezTo>
                  <a:cubicBezTo>
                    <a:pt x="3228" y="1905031"/>
                    <a:pt x="0" y="1897238"/>
                    <a:pt x="0" y="1889113"/>
                  </a:cubicBezTo>
                  <a:lnTo>
                    <a:pt x="0" y="30636"/>
                  </a:lnTo>
                  <a:cubicBezTo>
                    <a:pt x="0" y="22511"/>
                    <a:pt x="3228" y="14718"/>
                    <a:pt x="8973" y="8973"/>
                  </a:cubicBezTo>
                  <a:cubicBezTo>
                    <a:pt x="14718" y="3228"/>
                    <a:pt x="22511" y="0"/>
                    <a:pt x="306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95384" cy="1957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386803" y="2534866"/>
            <a:ext cx="785286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00437" y="3434639"/>
            <a:ext cx="10212851" cy="6415675"/>
          </a:xfrm>
          <a:custGeom>
            <a:avLst/>
            <a:gdLst/>
            <a:ahLst/>
            <a:cxnLst/>
            <a:rect r="r" b="b" t="t" l="l"/>
            <a:pathLst>
              <a:path h="6415675" w="10212851">
                <a:moveTo>
                  <a:pt x="0" y="0"/>
                </a:moveTo>
                <a:lnTo>
                  <a:pt x="10212851" y="0"/>
                </a:lnTo>
                <a:lnTo>
                  <a:pt x="10212851" y="6415675"/>
                </a:lnTo>
                <a:lnTo>
                  <a:pt x="0" y="6415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78" r="0" b="-157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7565" y="90899"/>
            <a:ext cx="7918843" cy="135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4"/>
              </a:lnSpc>
            </a:pPr>
            <a:r>
              <a:rPr lang="en-US" b="true" sz="11005" spc="-6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2404" y="1332587"/>
            <a:ext cx="7572036" cy="120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25"/>
              </a:lnSpc>
            </a:pPr>
            <a:r>
              <a:rPr lang="en-US" b="true" sz="9805" spc="-588">
                <a:solidFill>
                  <a:srgbClr val="FFE1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0809" y="1234068"/>
            <a:ext cx="6960819" cy="869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5"/>
              </a:lnSpc>
            </a:pPr>
            <a:r>
              <a:rPr lang="en-US" b="true" sz="3408" i="true" spc="-85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The aluminum mesh and mineral pebble layer is our primary innovation. It acts as a passive mechanical sieve</a:t>
            </a:r>
          </a:p>
          <a:p>
            <a:pPr algn="l">
              <a:lnSpc>
                <a:spcPts val="4635"/>
              </a:lnSpc>
            </a:pPr>
            <a:r>
              <a:rPr lang="en-US" b="true" sz="3408" i="true" spc="-85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. It guarantees that roots only receive highly oxygenated "dry fog" (under 5 microns), entirely eliminating the root rot associated with standard fogponic systems.</a:t>
            </a:r>
          </a:p>
          <a:p>
            <a:pPr algn="l">
              <a:lnSpc>
                <a:spcPts val="4635"/>
              </a:lnSpc>
            </a:pPr>
            <a:r>
              <a:rPr lang="en-US" b="true" sz="3408" i="true" spc="-85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Any unabsorbed mist condenses on the enclosure walls or the baffle layer and drips straight back into the reservoir. </a:t>
            </a:r>
          </a:p>
          <a:p>
            <a:pPr algn="l">
              <a:lnSpc>
                <a:spcPts val="4515"/>
              </a:lnSpc>
            </a:pPr>
            <a:r>
              <a:rPr lang="en-US" b="true" sz="3320" i="true" spc="-83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Zero water is lost to deep percolation or evaporation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54559" y="0"/>
            <a:ext cx="9000742" cy="10850611"/>
            <a:chOff x="0" y="0"/>
            <a:chExt cx="2370566" cy="28577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0566" cy="2857774"/>
            </a:xfrm>
            <a:custGeom>
              <a:avLst/>
              <a:gdLst/>
              <a:ahLst/>
              <a:cxnLst/>
              <a:rect r="r" b="b" t="t" l="l"/>
              <a:pathLst>
                <a:path h="2857774" w="2370566">
                  <a:moveTo>
                    <a:pt x="0" y="0"/>
                  </a:moveTo>
                  <a:lnTo>
                    <a:pt x="2370566" y="0"/>
                  </a:lnTo>
                  <a:lnTo>
                    <a:pt x="2370566" y="2857774"/>
                  </a:lnTo>
                  <a:lnTo>
                    <a:pt x="0" y="2857774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0566" cy="28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24483" y="-716002"/>
            <a:ext cx="7493606" cy="11566613"/>
            <a:chOff x="0" y="0"/>
            <a:chExt cx="1973625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3625" cy="3046351"/>
            </a:xfrm>
            <a:custGeom>
              <a:avLst/>
              <a:gdLst/>
              <a:ahLst/>
              <a:cxnLst/>
              <a:rect r="r" b="b" t="t" l="l"/>
              <a:pathLst>
                <a:path h="3046351" w="1973625">
                  <a:moveTo>
                    <a:pt x="0" y="0"/>
                  </a:moveTo>
                  <a:lnTo>
                    <a:pt x="1973625" y="0"/>
                  </a:lnTo>
                  <a:lnTo>
                    <a:pt x="1973625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3625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5584197" y="812802"/>
            <a:ext cx="7119581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10317056" cy="10287000"/>
          </a:xfrm>
          <a:custGeom>
            <a:avLst/>
            <a:gdLst/>
            <a:ahLst/>
            <a:cxnLst/>
            <a:rect r="r" b="b" t="t" l="l"/>
            <a:pathLst>
              <a:path h="10287000" w="10317056">
                <a:moveTo>
                  <a:pt x="0" y="0"/>
                </a:moveTo>
                <a:lnTo>
                  <a:pt x="10317056" y="0"/>
                </a:lnTo>
                <a:lnTo>
                  <a:pt x="103170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6" r="0" b="-14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609548" y="4216398"/>
            <a:ext cx="7119607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DA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and Benefits</a:t>
            </a:r>
            <a:r>
              <a:rPr lang="en-US" sz="5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4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9409" y="0"/>
            <a:ext cx="10448045" cy="10287000"/>
          </a:xfrm>
          <a:custGeom>
            <a:avLst/>
            <a:gdLst/>
            <a:ahLst/>
            <a:cxnLst/>
            <a:rect r="r" b="b" t="t" l="l"/>
            <a:pathLst>
              <a:path h="10287000" w="10448045">
                <a:moveTo>
                  <a:pt x="0" y="0"/>
                </a:moveTo>
                <a:lnTo>
                  <a:pt x="10448045" y="0"/>
                </a:lnTo>
                <a:lnTo>
                  <a:pt x="1044804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68" r="-562" b="-10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69" y="4000187"/>
            <a:ext cx="3823414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DA40"/>
                </a:solidFill>
                <a:latin typeface="Canva Sans"/>
                <a:ea typeface="Canva Sans"/>
                <a:cs typeface="Canva Sans"/>
                <a:sym typeface="Canva Sans"/>
              </a:rPr>
              <a:t>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31804" y="3957642"/>
            <a:ext cx="220742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E144"/>
                </a:solidFill>
                <a:latin typeface="Canva Sans"/>
                <a:ea typeface="Canva Sans"/>
                <a:cs typeface="Canva Sans"/>
                <a:sym typeface="Canva Sans"/>
              </a:rPr>
              <a:t>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8386" y="-281806"/>
            <a:ext cx="6852698" cy="10850611"/>
            <a:chOff x="0" y="0"/>
            <a:chExt cx="1804826" cy="28577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4826" cy="2857774"/>
            </a:xfrm>
            <a:custGeom>
              <a:avLst/>
              <a:gdLst/>
              <a:ahLst/>
              <a:cxnLst/>
              <a:rect r="r" b="b" t="t" l="l"/>
              <a:pathLst>
                <a:path h="2857774" w="1804826">
                  <a:moveTo>
                    <a:pt x="0" y="0"/>
                  </a:moveTo>
                  <a:lnTo>
                    <a:pt x="1804826" y="0"/>
                  </a:lnTo>
                  <a:lnTo>
                    <a:pt x="1804826" y="2857774"/>
                  </a:lnTo>
                  <a:lnTo>
                    <a:pt x="0" y="2857774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04826" cy="28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1014598" y="-639807"/>
            <a:ext cx="7493606" cy="11566613"/>
            <a:chOff x="0" y="0"/>
            <a:chExt cx="1973625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3625" cy="3046351"/>
            </a:xfrm>
            <a:custGeom>
              <a:avLst/>
              <a:gdLst/>
              <a:ahLst/>
              <a:cxnLst/>
              <a:rect r="r" b="b" t="t" l="l"/>
              <a:pathLst>
                <a:path h="3046351" w="1973625">
                  <a:moveTo>
                    <a:pt x="0" y="0"/>
                  </a:moveTo>
                  <a:lnTo>
                    <a:pt x="1973625" y="0"/>
                  </a:lnTo>
                  <a:lnTo>
                    <a:pt x="1973625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3625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320437" y="2207144"/>
            <a:ext cx="6313875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28700" y="3171272"/>
            <a:ext cx="5172804" cy="6562696"/>
            <a:chOff x="0" y="0"/>
            <a:chExt cx="801403" cy="10167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1403" cy="1016733"/>
            </a:xfrm>
            <a:custGeom>
              <a:avLst/>
              <a:gdLst/>
              <a:ahLst/>
              <a:cxnLst/>
              <a:rect r="r" b="b" t="t" l="l"/>
              <a:pathLst>
                <a:path h="1016733" w="801403">
                  <a:moveTo>
                    <a:pt x="59866" y="0"/>
                  </a:moveTo>
                  <a:lnTo>
                    <a:pt x="741536" y="0"/>
                  </a:lnTo>
                  <a:cubicBezTo>
                    <a:pt x="774600" y="0"/>
                    <a:pt x="801403" y="26803"/>
                    <a:pt x="801403" y="59866"/>
                  </a:cubicBezTo>
                  <a:lnTo>
                    <a:pt x="801403" y="956867"/>
                  </a:lnTo>
                  <a:cubicBezTo>
                    <a:pt x="801403" y="972745"/>
                    <a:pt x="795095" y="987972"/>
                    <a:pt x="783868" y="999199"/>
                  </a:cubicBezTo>
                  <a:cubicBezTo>
                    <a:pt x="772641" y="1010426"/>
                    <a:pt x="757414" y="1016733"/>
                    <a:pt x="741536" y="1016733"/>
                  </a:cubicBezTo>
                  <a:lnTo>
                    <a:pt x="59866" y="1016733"/>
                  </a:lnTo>
                  <a:cubicBezTo>
                    <a:pt x="26803" y="1016733"/>
                    <a:pt x="0" y="989930"/>
                    <a:pt x="0" y="956867"/>
                  </a:cubicBezTo>
                  <a:lnTo>
                    <a:pt x="0" y="59866"/>
                  </a:lnTo>
                  <a:cubicBezTo>
                    <a:pt x="0" y="43989"/>
                    <a:pt x="6307" y="28762"/>
                    <a:pt x="17534" y="17534"/>
                  </a:cubicBezTo>
                  <a:cubicBezTo>
                    <a:pt x="28762" y="6307"/>
                    <a:pt x="43989" y="0"/>
                    <a:pt x="59866" y="0"/>
                  </a:cubicBezTo>
                  <a:close/>
                </a:path>
              </a:pathLst>
            </a:custGeom>
            <a:blipFill>
              <a:blip r:embed="rId3"/>
              <a:stretch>
                <a:fillRect l="-8" t="0" r="-8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322563" y="265710"/>
            <a:ext cx="7918843" cy="194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85"/>
              </a:lnSpc>
            </a:pPr>
            <a:r>
              <a:rPr lang="en-US" b="true" sz="8206" spc="-49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WORKING MECHANISM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61401" y="287006"/>
            <a:ext cx="2848194" cy="3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1"/>
              </a:lnSpc>
            </a:pPr>
            <a:r>
              <a:rPr lang="en-US" b="true" sz="2399" spc="-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Sustainable Fu</a:t>
            </a:r>
            <a:r>
              <a:rPr lang="en-US" b="true" sz="2399" spc="-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13567" y="762151"/>
            <a:ext cx="9345733" cy="912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048" indent="-441024" lvl="1">
              <a:lnSpc>
                <a:spcPts val="5556"/>
              </a:lnSpc>
              <a:buFont typeface="Arial"/>
              <a:buChar char="•"/>
            </a:pPr>
            <a:r>
              <a:rPr lang="en-US" b="true" sz="4085" i="true" spc="-102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The system operates inside a sealed transparent chamber.</a:t>
            </a:r>
          </a:p>
          <a:p>
            <a:pPr algn="l" marL="838869" indent="-419434" lvl="1">
              <a:lnSpc>
                <a:spcPts val="5284"/>
              </a:lnSpc>
              <a:buFont typeface="Arial"/>
              <a:buChar char="•"/>
            </a:pPr>
            <a:r>
              <a:rPr lang="en-US" b="true" sz="3885" i="true" spc="-97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An ultrasonic mist maker converts nutrient-rich water into a dense fog.</a:t>
            </a:r>
          </a:p>
          <a:p>
            <a:pPr algn="l" marL="882048" indent="-441024" lvl="1">
              <a:lnSpc>
                <a:spcPts val="5556"/>
              </a:lnSpc>
              <a:buFont typeface="Arial"/>
              <a:buChar char="•"/>
            </a:pPr>
            <a:r>
              <a:rPr lang="en-US" b="true" sz="4085" i="true" spc="-102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This fog passes through a layer of mineral pebbles, which filter out heavy droplets. </a:t>
            </a:r>
          </a:p>
          <a:p>
            <a:pPr algn="l" marL="882048" indent="-441024" lvl="1">
              <a:lnSpc>
                <a:spcPts val="5556"/>
              </a:lnSpc>
              <a:buFont typeface="Arial"/>
              <a:buChar char="•"/>
            </a:pPr>
            <a:r>
              <a:rPr lang="en-US" b="true" sz="4085" i="true" spc="-102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Only ultra-fine dry fog reaches the plant roots, ensuring high oxygen availability.</a:t>
            </a:r>
          </a:p>
          <a:p>
            <a:pPr algn="l" marL="905196" indent="-452598" lvl="1">
              <a:lnSpc>
                <a:spcPts val="5702"/>
              </a:lnSpc>
              <a:buFont typeface="Arial"/>
              <a:buChar char="•"/>
            </a:pPr>
            <a:r>
              <a:rPr lang="en-US" b="true" sz="4192" i="true" spc="-104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Unused moisture condenses and returns to the reservoir, creating a continuous recycling loop.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258" y="-26445"/>
            <a:ext cx="9000742" cy="10850611"/>
            <a:chOff x="0" y="0"/>
            <a:chExt cx="2370566" cy="28577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0566" cy="2857774"/>
            </a:xfrm>
            <a:custGeom>
              <a:avLst/>
              <a:gdLst/>
              <a:ahLst/>
              <a:cxnLst/>
              <a:rect r="r" b="b" t="t" l="l"/>
              <a:pathLst>
                <a:path h="2857774" w="2370566">
                  <a:moveTo>
                    <a:pt x="0" y="0"/>
                  </a:moveTo>
                  <a:lnTo>
                    <a:pt x="2370566" y="0"/>
                  </a:lnTo>
                  <a:lnTo>
                    <a:pt x="2370566" y="2857774"/>
                  </a:lnTo>
                  <a:lnTo>
                    <a:pt x="0" y="2857774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0566" cy="28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1169246" y="-1000480"/>
            <a:ext cx="7493606" cy="11566613"/>
            <a:chOff x="0" y="0"/>
            <a:chExt cx="1973625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3625" cy="3046351"/>
            </a:xfrm>
            <a:custGeom>
              <a:avLst/>
              <a:gdLst/>
              <a:ahLst/>
              <a:cxnLst/>
              <a:rect r="r" b="b" t="t" l="l"/>
              <a:pathLst>
                <a:path h="3046351" w="1973625">
                  <a:moveTo>
                    <a:pt x="0" y="0"/>
                  </a:moveTo>
                  <a:lnTo>
                    <a:pt x="1973625" y="0"/>
                  </a:lnTo>
                  <a:lnTo>
                    <a:pt x="1973625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73625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0221" y="1519287"/>
            <a:ext cx="7137686" cy="8661097"/>
            <a:chOff x="0" y="0"/>
            <a:chExt cx="1879884" cy="22811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9884" cy="2281112"/>
            </a:xfrm>
            <a:custGeom>
              <a:avLst/>
              <a:gdLst/>
              <a:ahLst/>
              <a:cxnLst/>
              <a:rect r="r" b="b" t="t" l="l"/>
              <a:pathLst>
                <a:path h="2281112" w="1879884">
                  <a:moveTo>
                    <a:pt x="45555" y="0"/>
                  </a:moveTo>
                  <a:lnTo>
                    <a:pt x="1834329" y="0"/>
                  </a:lnTo>
                  <a:cubicBezTo>
                    <a:pt x="1859489" y="0"/>
                    <a:pt x="1879884" y="20396"/>
                    <a:pt x="1879884" y="45555"/>
                  </a:cubicBezTo>
                  <a:lnTo>
                    <a:pt x="1879884" y="2235557"/>
                  </a:lnTo>
                  <a:cubicBezTo>
                    <a:pt x="1879884" y="2260716"/>
                    <a:pt x="1859489" y="2281112"/>
                    <a:pt x="1834329" y="2281112"/>
                  </a:cubicBezTo>
                  <a:lnTo>
                    <a:pt x="45555" y="2281112"/>
                  </a:lnTo>
                  <a:cubicBezTo>
                    <a:pt x="33473" y="2281112"/>
                    <a:pt x="21886" y="2276313"/>
                    <a:pt x="13343" y="2267769"/>
                  </a:cubicBezTo>
                  <a:cubicBezTo>
                    <a:pt x="4800" y="2259226"/>
                    <a:pt x="0" y="2247639"/>
                    <a:pt x="0" y="2235557"/>
                  </a:cubicBezTo>
                  <a:lnTo>
                    <a:pt x="0" y="45555"/>
                  </a:lnTo>
                  <a:cubicBezTo>
                    <a:pt x="0" y="33473"/>
                    <a:pt x="4800" y="21886"/>
                    <a:pt x="13343" y="13343"/>
                  </a:cubicBezTo>
                  <a:cubicBezTo>
                    <a:pt x="21886" y="4800"/>
                    <a:pt x="33473" y="0"/>
                    <a:pt x="455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79884" cy="2319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051149" y="1488029"/>
            <a:ext cx="167130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45011" y="1908412"/>
            <a:ext cx="6628106" cy="7882848"/>
          </a:xfrm>
          <a:custGeom>
            <a:avLst/>
            <a:gdLst/>
            <a:ahLst/>
            <a:cxnLst/>
            <a:rect r="r" b="b" t="t" l="l"/>
            <a:pathLst>
              <a:path h="7882848" w="6628106">
                <a:moveTo>
                  <a:pt x="0" y="0"/>
                </a:moveTo>
                <a:lnTo>
                  <a:pt x="6628106" y="0"/>
                </a:lnTo>
                <a:lnTo>
                  <a:pt x="6628106" y="7882848"/>
                </a:lnTo>
                <a:lnTo>
                  <a:pt x="0" y="788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" t="0" r="-166" b="-559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7997" y="285750"/>
            <a:ext cx="8664783" cy="120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25"/>
              </a:lnSpc>
            </a:pPr>
            <a:r>
              <a:rPr lang="en-US" b="true" sz="9805" spc="-58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DELIVERABLES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1561" y="259305"/>
            <a:ext cx="8399632" cy="122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599">
                <a:solidFill>
                  <a:srgbClr val="FFE1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(PROTOTYPE)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65409" y="1955463"/>
            <a:ext cx="9475784" cy="797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2"/>
              </a:lnSpc>
            </a:pPr>
            <a:r>
              <a:rPr lang="en-US" b="true" sz="3678" i="true" spc="-91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For the live prototype testing and final presentation, our team will deliver: </a:t>
            </a:r>
          </a:p>
          <a:p>
            <a:pPr algn="l">
              <a:lnSpc>
                <a:spcPts val="5002"/>
              </a:lnSpc>
            </a:pPr>
            <a:r>
              <a:rPr lang="en-US" b="true" sz="3678" i="true" spc="-91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1.A complete prototype of the F.L.O.R.A. bio-reactor demonstrating the closed-loop fertigation cycle. </a:t>
            </a:r>
          </a:p>
          <a:p>
            <a:pPr algn="l">
              <a:lnSpc>
                <a:spcPts val="5002"/>
              </a:lnSpc>
            </a:pPr>
            <a:r>
              <a:rPr lang="en-US" b="true" sz="3678" i="true" spc="-91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2.A live visual demonstration of the mist fractionation process using the mineral pebble baffle layer. </a:t>
            </a:r>
          </a:p>
          <a:p>
            <a:pPr algn="l">
              <a:lnSpc>
                <a:spcPts val="4709"/>
              </a:lnSpc>
            </a:pPr>
            <a:r>
              <a:rPr lang="en-US" b="true" sz="3462" i="true" spc="-86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3.A live crop demonstration (featuring rapid-growth leafy greens like coriander) showcasing healthy, rot-free root development in a high-oxygen fog environment.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39806" y="9879014"/>
            <a:ext cx="2848194" cy="3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1"/>
              </a:lnSpc>
            </a:pPr>
            <a:r>
              <a:rPr lang="en-US" b="true" sz="2399" spc="-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Sustainable Future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9857" y="1668438"/>
            <a:ext cx="9047997" cy="8740927"/>
            <a:chOff x="0" y="0"/>
            <a:chExt cx="2383012" cy="23021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3012" cy="2302137"/>
            </a:xfrm>
            <a:custGeom>
              <a:avLst/>
              <a:gdLst/>
              <a:ahLst/>
              <a:cxnLst/>
              <a:rect r="r" b="b" t="t" l="l"/>
              <a:pathLst>
                <a:path h="2302137" w="2383012">
                  <a:moveTo>
                    <a:pt x="35937" y="0"/>
                  </a:moveTo>
                  <a:lnTo>
                    <a:pt x="2347074" y="0"/>
                  </a:lnTo>
                  <a:cubicBezTo>
                    <a:pt x="2366922" y="0"/>
                    <a:pt x="2383012" y="16090"/>
                    <a:pt x="2383012" y="35937"/>
                  </a:cubicBezTo>
                  <a:lnTo>
                    <a:pt x="2383012" y="2266200"/>
                  </a:lnTo>
                  <a:cubicBezTo>
                    <a:pt x="2383012" y="2275731"/>
                    <a:pt x="2379225" y="2284872"/>
                    <a:pt x="2372486" y="2291611"/>
                  </a:cubicBezTo>
                  <a:cubicBezTo>
                    <a:pt x="2365746" y="2298351"/>
                    <a:pt x="2356605" y="2302137"/>
                    <a:pt x="2347074" y="2302137"/>
                  </a:cubicBezTo>
                  <a:lnTo>
                    <a:pt x="35937" y="2302137"/>
                  </a:lnTo>
                  <a:cubicBezTo>
                    <a:pt x="26406" y="2302137"/>
                    <a:pt x="17265" y="2298351"/>
                    <a:pt x="10526" y="2291611"/>
                  </a:cubicBezTo>
                  <a:cubicBezTo>
                    <a:pt x="3786" y="2284872"/>
                    <a:pt x="0" y="2275731"/>
                    <a:pt x="0" y="2266200"/>
                  </a:cubicBezTo>
                  <a:lnTo>
                    <a:pt x="0" y="35937"/>
                  </a:lnTo>
                  <a:cubicBezTo>
                    <a:pt x="0" y="26406"/>
                    <a:pt x="3786" y="17265"/>
                    <a:pt x="10526" y="10526"/>
                  </a:cubicBezTo>
                  <a:cubicBezTo>
                    <a:pt x="17265" y="3786"/>
                    <a:pt x="26406" y="0"/>
                    <a:pt x="359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83012" cy="2340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07853" y="1668438"/>
            <a:ext cx="8765629" cy="8447716"/>
            <a:chOff x="0" y="0"/>
            <a:chExt cx="2308643" cy="2224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8643" cy="2224913"/>
            </a:xfrm>
            <a:custGeom>
              <a:avLst/>
              <a:gdLst/>
              <a:ahLst/>
              <a:cxnLst/>
              <a:rect r="r" b="b" t="t" l="l"/>
              <a:pathLst>
                <a:path h="2224913" w="2308643">
                  <a:moveTo>
                    <a:pt x="37095" y="0"/>
                  </a:moveTo>
                  <a:lnTo>
                    <a:pt x="2271548" y="0"/>
                  </a:lnTo>
                  <a:cubicBezTo>
                    <a:pt x="2281386" y="0"/>
                    <a:pt x="2290821" y="3908"/>
                    <a:pt x="2297778" y="10865"/>
                  </a:cubicBezTo>
                  <a:cubicBezTo>
                    <a:pt x="2304735" y="17822"/>
                    <a:pt x="2308643" y="27257"/>
                    <a:pt x="2308643" y="37095"/>
                  </a:cubicBezTo>
                  <a:lnTo>
                    <a:pt x="2308643" y="2187818"/>
                  </a:lnTo>
                  <a:cubicBezTo>
                    <a:pt x="2308643" y="2197656"/>
                    <a:pt x="2304735" y="2207091"/>
                    <a:pt x="2297778" y="2214048"/>
                  </a:cubicBezTo>
                  <a:cubicBezTo>
                    <a:pt x="2290821" y="2221005"/>
                    <a:pt x="2281386" y="2224913"/>
                    <a:pt x="2271548" y="2224913"/>
                  </a:cubicBezTo>
                  <a:lnTo>
                    <a:pt x="37095" y="2224913"/>
                  </a:lnTo>
                  <a:cubicBezTo>
                    <a:pt x="27257" y="2224913"/>
                    <a:pt x="17822" y="2221005"/>
                    <a:pt x="10865" y="2214048"/>
                  </a:cubicBezTo>
                  <a:cubicBezTo>
                    <a:pt x="3908" y="2207091"/>
                    <a:pt x="0" y="2197656"/>
                    <a:pt x="0" y="2187818"/>
                  </a:cubicBezTo>
                  <a:lnTo>
                    <a:pt x="0" y="37095"/>
                  </a:lnTo>
                  <a:cubicBezTo>
                    <a:pt x="0" y="27257"/>
                    <a:pt x="3908" y="17822"/>
                    <a:pt x="10865" y="10865"/>
                  </a:cubicBezTo>
                  <a:cubicBezTo>
                    <a:pt x="17822" y="3908"/>
                    <a:pt x="27257" y="0"/>
                    <a:pt x="370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200"/>
                  </a:srgbClr>
                </a:gs>
                <a:gs pos="33333">
                  <a:srgbClr val="FFFFFF">
                    <a:alpha val="24150"/>
                  </a:srgbClr>
                </a:gs>
                <a:gs pos="66667">
                  <a:srgbClr val="FFFFFF">
                    <a:alpha val="13300"/>
                  </a:srgbClr>
                </a:gs>
                <a:gs pos="100000">
                  <a:srgbClr val="FFFFFF">
                    <a:alpha val="245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08643" cy="2263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64456" y="1777496"/>
            <a:ext cx="8638798" cy="8229600"/>
          </a:xfrm>
          <a:custGeom>
            <a:avLst/>
            <a:gdLst/>
            <a:ahLst/>
            <a:cxnLst/>
            <a:rect r="r" b="b" t="t" l="l"/>
            <a:pathLst>
              <a:path h="8229600" w="8638798">
                <a:moveTo>
                  <a:pt x="0" y="0"/>
                </a:moveTo>
                <a:lnTo>
                  <a:pt x="8638798" y="0"/>
                </a:lnTo>
                <a:lnTo>
                  <a:pt x="86387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25" r="-2516" b="-638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5868" y="1777496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4456" y="314325"/>
            <a:ext cx="9355943" cy="135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4"/>
              </a:lnSpc>
            </a:pPr>
            <a:r>
              <a:rPr lang="en-US" b="true" sz="11005" spc="-6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SCALABILITY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5300" y="320759"/>
            <a:ext cx="9144000" cy="12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36"/>
              </a:lnSpc>
            </a:pPr>
            <a:r>
              <a:rPr lang="en-US" b="true" sz="10254" spc="-3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 USE CASES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-14532" b="-265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44740" y="-639807"/>
            <a:ext cx="11359338" cy="11566613"/>
            <a:chOff x="0" y="0"/>
            <a:chExt cx="2991760" cy="30463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91760" cy="3046351"/>
            </a:xfrm>
            <a:custGeom>
              <a:avLst/>
              <a:gdLst/>
              <a:ahLst/>
              <a:cxnLst/>
              <a:rect r="r" b="b" t="t" l="l"/>
              <a:pathLst>
                <a:path h="3046351" w="2991760">
                  <a:moveTo>
                    <a:pt x="0" y="0"/>
                  </a:moveTo>
                  <a:lnTo>
                    <a:pt x="2991760" y="0"/>
                  </a:lnTo>
                  <a:lnTo>
                    <a:pt x="2991760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91760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683775" y="-639807"/>
            <a:ext cx="5824429" cy="11566613"/>
            <a:chOff x="0" y="0"/>
            <a:chExt cx="1534006" cy="3046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006" cy="3046351"/>
            </a:xfrm>
            <a:custGeom>
              <a:avLst/>
              <a:gdLst/>
              <a:ahLst/>
              <a:cxnLst/>
              <a:rect r="r" b="b" t="t" l="l"/>
              <a:pathLst>
                <a:path h="3046351" w="1534006">
                  <a:moveTo>
                    <a:pt x="0" y="0"/>
                  </a:moveTo>
                  <a:lnTo>
                    <a:pt x="1534006" y="0"/>
                  </a:lnTo>
                  <a:lnTo>
                    <a:pt x="1534006" y="3046351"/>
                  </a:lnTo>
                  <a:lnTo>
                    <a:pt x="0" y="3046351"/>
                  </a:lnTo>
                  <a:close/>
                </a:path>
              </a:pathLst>
            </a:custGeom>
            <a:gradFill rotWithShape="true">
              <a:gsLst>
                <a:gs pos="0">
                  <a:srgbClr val="724800">
                    <a:alpha val="100000"/>
                  </a:srgbClr>
                </a:gs>
                <a:gs pos="50000">
                  <a:srgbClr val="734901">
                    <a:alpha val="45000"/>
                  </a:srgbClr>
                </a:gs>
                <a:gs pos="100000">
                  <a:srgbClr val="18291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34006" cy="3084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2662" y="492456"/>
            <a:ext cx="9442869" cy="243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15"/>
              </a:lnSpc>
            </a:pPr>
            <a:r>
              <a:rPr lang="en-US" b="true" sz="19684" spc="-118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62341" y="617562"/>
            <a:ext cx="9442869" cy="213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65"/>
              </a:lnSpc>
            </a:pPr>
            <a:r>
              <a:rPr lang="en-US" b="true" sz="17405" spc="-104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5751342" y="10142307"/>
            <a:ext cx="4775141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48108" y="3900651"/>
            <a:ext cx="14494919" cy="112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1"/>
              </a:lnSpc>
            </a:pPr>
            <a:r>
              <a:rPr lang="en-US" b="true" sz="3199" i="true" spc="-79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FLORA</a:t>
            </a:r>
          </a:p>
          <a:p>
            <a:pPr algn="l">
              <a:lnSpc>
                <a:spcPts val="4623"/>
              </a:lnSpc>
            </a:pPr>
            <a:r>
              <a:rPr lang="en-US" b="true" sz="3399" i="true" spc="-84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Fog Assisted Light Integrated Optimized Root Apparatus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092" y="6567270"/>
            <a:ext cx="15256971" cy="714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199" i="true" spc="-104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Growing Smarter. Growing Sustainably.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38935" y="9717492"/>
            <a:ext cx="295516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Presented by: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62384" y="9584142"/>
            <a:ext cx="2826294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2400" spc="48">
                <a:solidFill>
                  <a:srgbClr val="FFD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Shreeyog Yembadwar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8401" y="2924148"/>
            <a:ext cx="91571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FFE1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Insights, Performance &amp; Sustainable Growth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DAHPS43y6PI</dc:identifier>
  <dcterms:modified xsi:type="dcterms:W3CDTF">2011-08-01T06:04:30Z</dcterms:modified>
  <cp:revision>1</cp:revision>
  <dc:title>Brown White and Yellow Modern Agriculture Report Presentation</dc:title>
</cp:coreProperties>
</file>